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457200"/>
            <a:ext cx="1828800" cy="1828800"/>
          </a:xfrm>
          <a:prstGeom prst="ellipse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稚小苗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兴趣教育智慧管理平台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0" y="4389120"/>
            <a:ext cx="3657600" cy="0"/>
          </a:xfrm>
          <a:prstGeom prst="line">
            <a:avLst/>
          </a:prstGeom>
          <a:noFill/>
          <a:ln w="38100">
            <a:solidFill>
              <a:srgbClr val="8BC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754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一个小程序，轻松管理兴趣培训机构的全流程教务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5760720"/>
            <a:ext cx="137160" cy="1371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5943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让教务管理更简单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0" y="5760720"/>
            <a:ext cx="137160" cy="1371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5943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让家校沟通更高效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5760720"/>
            <a:ext cx="137160" cy="1371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5943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让机构运营更轻松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行业痛点：三方困局亟待破解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C8E6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家长之痛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8BC34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机构之痛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CDDC3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教师之痛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信息碎片化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培训机构众多，查找课程信息困难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决策成本高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不了解机构真实情况，难以做出选择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预约体验差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343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预约试听流程繁琐，沟通成本高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029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进度不透明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5349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无法实时掌握孩子学习进度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214884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运营成本高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人工管理课程、教师、教室效率低下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15468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获客难度大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3337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缺乏精准获客渠道，营销成本居高不下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416052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4023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管理工具缺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74720" y="4343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排课冲突频发，资源调度混乱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91840" y="516636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5029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口碑难建立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0" y="5349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缺乏有效的评价展示和口碑传播机制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35040" y="2148840"/>
            <a:ext cx="91440" cy="91440"/>
          </a:xfrm>
          <a:prstGeom prst="ellipse">
            <a:avLst/>
          </a:prstGeom>
          <a:solidFill>
            <a:srgbClr val="CDDC39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排课混乱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1792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课程安排不透明，时间冲突频发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35040" y="3154680"/>
            <a:ext cx="91440" cy="91440"/>
          </a:xfrm>
          <a:prstGeom prst="ellipse">
            <a:avLst/>
          </a:prstGeom>
          <a:solidFill>
            <a:srgbClr val="CDDC39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考勤繁琐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0" y="3337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学员签到统计耗时耗力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35040" y="4160520"/>
            <a:ext cx="91440" cy="91440"/>
          </a:xfrm>
          <a:prstGeom prst="ellipse">
            <a:avLst/>
          </a:prstGeom>
          <a:solidFill>
            <a:srgbClr val="CDDC39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0" y="4023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沟通低效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17920" y="4343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与家长沟通缺乏统一渠道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我们的解决方案：一个小程序搞定一切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稚小苗 —— 专为3-12岁儿童兴趣培训行业打造的轻量化管理平台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8229600" cy="22860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6576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解决方案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价值体现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一键管理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小程序端完成所有教务操作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随时随地，手机搞定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智能高效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课程/教师/教室/排课一体化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运营效率提升80%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精准匹配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基于位置的智能推荐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就近选择，节省时间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信任构建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评价体系+荣誉展示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真实口碑驱动转化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裂变增长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邀友返现营销系统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低成本获客，社交裂变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平台角色覆盖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55778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5577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家长端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468880" y="5715000"/>
            <a:ext cx="457200" cy="274320"/>
          </a:xfrm>
          <a:prstGeom prst="rightArrow">
            <a:avLst/>
          </a:prstGeom>
          <a:solidFill>
            <a:srgbClr val="C8E6C9"/>
          </a:solidFill>
          <a:ln/>
        </p:spPr>
      </p:sp>
      <p:sp>
        <p:nvSpPr>
          <p:cNvPr id="11" name="Shape 8"/>
          <p:cNvSpPr/>
          <p:nvPr/>
        </p:nvSpPr>
        <p:spPr>
          <a:xfrm>
            <a:off x="2834640" y="55778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8BC34A"/>
          </a:solidFill>
          <a:ln/>
        </p:spPr>
      </p:sp>
      <p:sp>
        <p:nvSpPr>
          <p:cNvPr id="12" name="Text 9"/>
          <p:cNvSpPr/>
          <p:nvPr/>
        </p:nvSpPr>
        <p:spPr>
          <a:xfrm>
            <a:off x="2834640" y="5577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机构端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0" y="5715000"/>
            <a:ext cx="457200" cy="274320"/>
          </a:xfrm>
          <a:prstGeom prst="rightArrow">
            <a:avLst/>
          </a:prstGeom>
          <a:solidFill>
            <a:srgbClr val="C8E6C9"/>
          </a:solidFill>
          <a:ln/>
        </p:spPr>
      </p:sp>
      <p:sp>
        <p:nvSpPr>
          <p:cNvPr id="14" name="Shape 11"/>
          <p:cNvSpPr/>
          <p:nvPr/>
        </p:nvSpPr>
        <p:spPr>
          <a:xfrm>
            <a:off x="4937760" y="55778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CDDC39"/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5577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教师端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675120" y="5715000"/>
            <a:ext cx="457200" cy="274320"/>
          </a:xfrm>
          <a:prstGeom prst="rightArrow">
            <a:avLst/>
          </a:prstGeom>
          <a:solidFill>
            <a:srgbClr val="C8E6C9"/>
          </a:solidFill>
          <a:ln/>
        </p:spPr>
      </p:sp>
      <p:sp>
        <p:nvSpPr>
          <p:cNvPr id="17" name="Shape 14"/>
          <p:cNvSpPr/>
          <p:nvPr/>
        </p:nvSpPr>
        <p:spPr>
          <a:xfrm>
            <a:off x="7040880" y="55778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18" name="Text 15"/>
          <p:cNvSpPr/>
          <p:nvPr/>
        </p:nvSpPr>
        <p:spPr>
          <a:xfrm>
            <a:off x="7040880" y="5577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平台管理端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核心优势：一个手机，管理全流程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" cy="640080"/>
          </a:xfrm>
          <a:prstGeom prst="roundRect">
            <a:avLst>
              <a:gd name="adj" fmla="val 12500"/>
            </a:avLst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一部手机搞定所有教务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无需电脑，无需安装多个APP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201168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38328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传统方式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稚小苗方式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课程管理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电脑+Excel表格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手机小程序一键操作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排课调度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纸质日历+人工协调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智能冲突检测，自动提醒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学员签到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纸质签到表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手机扫码/一键签到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家长沟通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微信群消息轰炸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平台内消息，有序管理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财务对账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手工记账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自动统计，实时查看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480560"/>
            <a:ext cx="365760" cy="365760"/>
          </a:xfrm>
          <a:prstGeom prst="ellipse">
            <a:avLst/>
          </a:prstGeom>
          <a:solidFill>
            <a:srgbClr val="CDDC39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3分钟完成日常教务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05840" y="502920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4937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发布课程：1分钟填写，即时上线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66160" y="502920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2" name="Text 9"/>
          <p:cNvSpPr/>
          <p:nvPr/>
        </p:nvSpPr>
        <p:spPr>
          <a:xfrm>
            <a:off x="3703320" y="4937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排课操作：可视化日历，拖拽完成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502920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4937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签到统计：一键生成报表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5486400"/>
            <a:ext cx="365760" cy="36576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随时随地处理事务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05840" y="6035040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8" name="Text 15"/>
          <p:cNvSpPr/>
          <p:nvPr/>
        </p:nvSpPr>
        <p:spPr>
          <a:xfrm>
            <a:off x="1143000" y="5943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机构负责人：地铁上也能排课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566160" y="6035040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0" name="Text 17"/>
          <p:cNvSpPr/>
          <p:nvPr/>
        </p:nvSpPr>
        <p:spPr>
          <a:xfrm>
            <a:off x="3703320" y="5943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教师：课前手机查看课表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26480" y="6035040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5943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家长：躺在床上就能预约课程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1：机构入驻与展示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入驻流程简化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173736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737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提交资料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08960" y="1920240"/>
            <a:ext cx="640080" cy="274320"/>
          </a:xfrm>
          <a:prstGeom prst="rightArrow">
            <a:avLst/>
          </a:prstGeom>
          <a:solidFill>
            <a:srgbClr val="8BC34A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173736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737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快速审核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94960" y="1920240"/>
            <a:ext cx="640080" cy="274320"/>
          </a:xfrm>
          <a:prstGeom prst="rightArrow">
            <a:avLst/>
          </a:prstGeom>
          <a:solidFill>
            <a:srgbClr val="8BC34A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173736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737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即刻开业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功能亮点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3364992"/>
            <a:ext cx="45720" cy="457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资质认证：营业执照+法人身份证审核，确保机构合规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3867912"/>
            <a:ext cx="45720" cy="457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信息展示：Logo、简介、联系方式、经营类目完整呈现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4370832"/>
            <a:ext cx="45720" cy="457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荣誉时刻：上传荣誉证书，增强家长信任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873752"/>
            <a:ext cx="45720" cy="457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精彩瞬间：教学环境、学员作品、活动照片展示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303520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5376672"/>
            <a:ext cx="45720" cy="457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212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教师团队：师资力量可视化，打造专业形象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265176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F1F8E9"/>
          </a:solidFill>
          <a:ln/>
        </p:spPr>
      </p:sp>
      <p:sp>
        <p:nvSpPr>
          <p:cNvPr id="29" name="Shape 27"/>
          <p:cNvSpPr/>
          <p:nvPr/>
        </p:nvSpPr>
        <p:spPr>
          <a:xfrm>
            <a:off x="5212080" y="2834640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智能位置推荐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03520" y="347472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0" y="3383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支持5-20km半径搜索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03520" y="393192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0" y="3840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按距离排序展示附近机构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03520" y="438912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0" y="4297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省市区三级联动筛选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2：课程管理与智能预约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课程发布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多规格SKU管理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支持多课时包规格（如10课时/20课时/40课时）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06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独立定价与库存管理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适龄范围设置（3-12岁精准定位）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课程类型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8BC34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40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试听课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免费/低价体验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支付自动确认，无需机构审核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572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4572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常规付费课程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892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机构确认后生效，支持退款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18872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智能预约系统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754880" y="1920240"/>
            <a:ext cx="457200" cy="2743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家长端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331720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3317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2423160"/>
            <a:ext cx="640080" cy="0"/>
          </a:xfrm>
          <a:prstGeom prst="line">
            <a:avLst/>
          </a:prstGeom>
          <a:noFill/>
          <a:ln w="25400">
            <a:solidFill>
              <a:srgbClr val="C8E6C9"/>
            </a:solidFill>
            <a:prstDash val="solid"/>
            <a:tailEnd type="arrow"/>
          </a:ln>
        </p:spPr>
      </p:sp>
      <p:sp>
        <p:nvSpPr>
          <p:cNvPr id="28" name="Text 26"/>
          <p:cNvSpPr/>
          <p:nvPr/>
        </p:nvSpPr>
        <p:spPr>
          <a:xfrm>
            <a:off x="4754880" y="2560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浏览课程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760720" y="2331720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0" name="Text 28"/>
          <p:cNvSpPr/>
          <p:nvPr/>
        </p:nvSpPr>
        <p:spPr>
          <a:xfrm>
            <a:off x="5760720" y="23317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2423160"/>
            <a:ext cx="640080" cy="0"/>
          </a:xfrm>
          <a:prstGeom prst="line">
            <a:avLst/>
          </a:prstGeom>
          <a:noFill/>
          <a:ln w="25400">
            <a:solidFill>
              <a:srgbClr val="C8E6C9"/>
            </a:solidFill>
            <a:prstDash val="solid"/>
            <a:tailEnd type="arrow"/>
          </a:ln>
        </p:spPr>
      </p:sp>
      <p:sp>
        <p:nvSpPr>
          <p:cNvPr id="32" name="Text 30"/>
          <p:cNvSpPr/>
          <p:nvPr/>
        </p:nvSpPr>
        <p:spPr>
          <a:xfrm>
            <a:off x="5669280" y="2560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选择时段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75120" y="2331720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23317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0" y="2423160"/>
            <a:ext cx="640080" cy="0"/>
          </a:xfrm>
          <a:prstGeom prst="line">
            <a:avLst/>
          </a:prstGeom>
          <a:noFill/>
          <a:ln w="25400">
            <a:solidFill>
              <a:srgbClr val="C8E6C9"/>
            </a:solidFill>
            <a:prstDash val="solid"/>
            <a:tailEnd type="arrow"/>
          </a:ln>
        </p:spPr>
      </p:sp>
      <p:sp>
        <p:nvSpPr>
          <p:cNvPr id="36" name="Text 34"/>
          <p:cNvSpPr/>
          <p:nvPr/>
        </p:nvSpPr>
        <p:spPr>
          <a:xfrm>
            <a:off x="6583680" y="2560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一键预约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589520" y="2331720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8" name="Text 36"/>
          <p:cNvSpPr/>
          <p:nvPr/>
        </p:nvSpPr>
        <p:spPr>
          <a:xfrm>
            <a:off x="7589520" y="23317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98080" y="2560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等待确认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108960"/>
            <a:ext cx="457200" cy="27432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41" name="Text 39"/>
          <p:cNvSpPr/>
          <p:nvPr/>
        </p:nvSpPr>
        <p:spPr>
          <a:xfrm>
            <a:off x="5303520" y="3108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机构端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46320" y="352044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可视化排课日历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388620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3840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智能冲突检测（教师/教室/时间）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425196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0" y="4206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24小时灵活改约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3：订单管理与智能签到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订单流程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37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1874520"/>
            <a:ext cx="457200" cy="274320"/>
          </a:xfrm>
          <a:prstGeom prst="rightArrow">
            <a:avLst/>
          </a:prstGeom>
          <a:solidFill>
            <a:srgbClr val="C8E6C9"/>
          </a:solidFill>
          <a:ln/>
        </p:spPr>
      </p:sp>
      <p:sp>
        <p:nvSpPr>
          <p:cNvPr id="7" name="Shape 5"/>
          <p:cNvSpPr/>
          <p:nvPr/>
        </p:nvSpPr>
        <p:spPr>
          <a:xfrm>
            <a:off x="2103120" y="173736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8BC34A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737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457200" cy="274320"/>
          </a:xfrm>
          <a:prstGeom prst="rightArrow">
            <a:avLst/>
          </a:prstGeom>
          <a:solidFill>
            <a:srgbClr val="C8E6C9"/>
          </a:solidFill>
          <a:ln/>
        </p:spPr>
      </p:sp>
      <p:sp>
        <p:nvSpPr>
          <p:cNvPr id="10" name="Shape 8"/>
          <p:cNvSpPr/>
          <p:nvPr/>
        </p:nvSpPr>
        <p:spPr>
          <a:xfrm>
            <a:off x="3749040" y="173736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737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机构确认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874520"/>
            <a:ext cx="457200" cy="274320"/>
          </a:xfrm>
          <a:prstGeom prst="rightArrow">
            <a:avLst/>
          </a:prstGeom>
          <a:solidFill>
            <a:srgbClr val="C8E6C9"/>
          </a:solidFill>
          <a:ln/>
        </p:spPr>
      </p:sp>
      <p:sp>
        <p:nvSpPr>
          <p:cNvPr id="13" name="Shape 11"/>
          <p:cNvSpPr/>
          <p:nvPr/>
        </p:nvSpPr>
        <p:spPr>
          <a:xfrm>
            <a:off x="5394960" y="173736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8BC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737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上课签到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1874520"/>
            <a:ext cx="457200" cy="274320"/>
          </a:xfrm>
          <a:prstGeom prst="rightArrow">
            <a:avLst/>
          </a:prstGeom>
          <a:solidFill>
            <a:srgbClr val="C8E6C9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0880" y="173736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737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完成评价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支付方式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微信支付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8600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线上购买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一键支付，自动确认（试听课）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8BC34A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线下支付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8600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到店付款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206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机构确认收款后生效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56032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2743200"/>
            <a:ext cx="365760" cy="3657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上课打卡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46320" y="3246120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圆形签到按钮，一键打卡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3657600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显示上课进度：已上 X 课 / 共 Y 课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4069080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支持历史补卡（需填写原因）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4480560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4434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课前24小时内可签到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0" y="502920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8BC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5212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退款保障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846320" y="562356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5577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未上课全额退款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46320" y="594360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5897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已上课按比例退款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626364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6217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48小时审核机制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4：智能课表与成长档案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4389120"/>
          </a:xfrm>
          <a:prstGeom prst="roundRect">
            <a:avLst>
              <a:gd name="adj" fmla="val 2222"/>
            </a:avLst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智能课表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三大视图模式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月视图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日历展示，课程日期圆点标记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26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周视图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七天卡片，课程数量一目了然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66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日视图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时间轴展示，课程时段精准定位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功能亮点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617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多宝贝切换查看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98348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937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全部孩子综合课表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530352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257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快速返回今天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562356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577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点击课程直达预约详情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188720"/>
            <a:ext cx="3931920" cy="43891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宝贝管理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93776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专属成长档案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0" y="246888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2468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支持添加最多10个宝贝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301752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3017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头像/姓名/性别/年龄/兴趣标签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0" y="356616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0" y="3566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预约课程时快速选择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0" y="41148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0" y="4114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课表与宝贝自动关联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核心营销：邀友让利返现系统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邀请好友，双方受益 —— 社交裂变驱动增长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营销模式概览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邀请人生成邀请码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2743200"/>
            <a:ext cx="731520" cy="274320"/>
          </a:xfrm>
          <a:prstGeom prst="rightArrow">
            <a:avLst/>
          </a:prstGeom>
          <a:solidFill>
            <a:srgbClr val="C8E6C9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256032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8BC34A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560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新用户用码立减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2743200"/>
            <a:ext cx="731520" cy="274320"/>
          </a:xfrm>
          <a:prstGeom prst="rightArrow">
            <a:avLst/>
          </a:prstGeom>
          <a:solidFill>
            <a:srgbClr val="C8E6C9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256032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560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邀请人按完课进度返现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核心规则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41148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通用邀请码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微信登录即生成，全平台通用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返现比例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机构设置3%-15%（默认10%）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让利比例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邀请人设置0%-100%（默认50%）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解锁机制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按完课进度解锁，100%完课解锁全额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846320" y="3383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三方收益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846320" y="384048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3840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邀请人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35040" y="3840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好友完课解锁返现，可提现或抵扣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448056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8BC34A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4480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新用户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035040" y="4480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输入邀请码立减学费（最高全额返现）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46320" y="512064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/>
        </p:spPr>
      </p:sp>
      <p:sp>
        <p:nvSpPr>
          <p:cNvPr id="24" name="Text 21"/>
          <p:cNvSpPr/>
          <p:nvPr/>
        </p:nvSpPr>
        <p:spPr>
          <a:xfrm>
            <a:off x="4846320" y="5120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035040" y="5120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低成本获客，社交裂变传播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邀友返现实战案例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机构A：少儿美术基础课，原价2000元，返现比例10%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65760" cy="2743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非获客用户邀请案例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用户甲（未报任何课程）邀请新用户丙报名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计算过程：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37160" cy="1371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4612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返现总额 = 2000 x 10% = 200元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37160" cy="1371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用户甲设置让利50%，新用户立减 = 200 x 50% = 100元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137160" cy="1371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6052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新用户丙实付 = 2000 - 100 = 1900元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663440"/>
            <a:ext cx="137160" cy="1371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1772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用户甲实际返现 = 200 - 100 = 100元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解锁过程：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548640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8BC34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4864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完课50%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03120" y="5486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解锁50元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03120" y="5897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（达到50元提现门槛）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0" y="548640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4CAF50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54864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完课100%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60720" y="5486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解锁50元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60720" y="5897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（剩余金额）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0" y="640080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0" y="6400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累计可提现 100元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为什么选择稚小苗？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1F8E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一站式解决方案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一个平台，覆盖兴趣培训全场景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机构入驻 · 课程管理 · 智能排课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14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在线预约 · 订单管理 · 签到统计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91440" cy="914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评价系统 · 营销推广 · 数据分析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1F8E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47472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8BC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74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极致便捷体验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无需电脑，手机搞定一切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43484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389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机构负责人：随时随地管理教务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75488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教师：课前查看课表，课后一键签到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5074920"/>
            <a:ext cx="91440" cy="91440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029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家长：躺在床上就能预约课程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128016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1F8E9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128016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CDDC39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低成本获客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54880" y="1828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邀友返现，社交裂变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240280"/>
            <a:ext cx="91440" cy="91440"/>
          </a:xfrm>
          <a:prstGeom prst="ellipse">
            <a:avLst/>
          </a:prstGeom>
          <a:solidFill>
            <a:srgbClr val="CDDC39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2194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零成本获客渠道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560320"/>
            <a:ext cx="91440" cy="91440"/>
          </a:xfrm>
          <a:prstGeom prst="ellipse">
            <a:avLst/>
          </a:prstGeom>
          <a:solidFill>
            <a:srgbClr val="CDDC39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2514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真实完课保障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880360"/>
            <a:ext cx="91440" cy="91440"/>
          </a:xfrm>
          <a:prstGeom prst="ellipse">
            <a:avLst/>
          </a:prstGeom>
          <a:solidFill>
            <a:srgbClr val="CDDC39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三方共赢模式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47472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1F8E9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0" y="347472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0" y="3474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快速上线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754880" y="4023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极简入驻流程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4434840"/>
            <a:ext cx="91440" cy="914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4389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提交资料 → 快速审核 → 即刻开业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4754880"/>
            <a:ext cx="91440" cy="914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3分钟完成日常教务操作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5074920"/>
            <a:ext cx="91440" cy="914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5029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无需培训，上手即用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商业模式：多方共赢的生态系统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盈利模式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交易佣金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课程成交金额按比例抽成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增值服务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高级管理工具、数据分析报告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广告推广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429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Banner展示、精准推荐位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7033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703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支付通道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支付手续费分成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成本结构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937760" y="1965960"/>
            <a:ext cx="2743200" cy="274320"/>
          </a:xfrm>
          <a:prstGeom prst="roundRect">
            <a:avLst>
              <a:gd name="adj" fmla="val 16667"/>
            </a:avLst>
          </a:prstGeom>
          <a:solidFill>
            <a:srgbClr val="C8E6C9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196596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技术研发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19202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2560320"/>
            <a:ext cx="2743200" cy="274320"/>
          </a:xfrm>
          <a:prstGeom prst="roundRect">
            <a:avLst>
              <a:gd name="adj" fmla="val 16667"/>
            </a:avLst>
          </a:prstGeom>
          <a:solidFill>
            <a:srgbClr val="C8E6C9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256032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8BC34A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市场推广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2514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C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3154680"/>
            <a:ext cx="2743200" cy="274320"/>
          </a:xfrm>
          <a:prstGeom prst="roundRect">
            <a:avLst>
              <a:gd name="adj" fmla="val 16667"/>
            </a:avLst>
          </a:prstGeom>
          <a:solidFill>
            <a:srgbClr val="C8E6C9"/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315468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CDDC39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运营服务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0" y="3108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DDC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3749040"/>
            <a:ext cx="2743200" cy="274320"/>
          </a:xfrm>
          <a:prstGeom prst="roundRect">
            <a:avLst>
              <a:gd name="adj" fmla="val 16667"/>
            </a:avLst>
          </a:prstGeom>
          <a:solidFill>
            <a:srgbClr val="C8E6C9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7490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0" y="3703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市场前景：万亿级素质教育赛道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1F8E9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素质教育市场持续增长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2024年素质教育市场规模突破 5000亿元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年复合增长率 15%+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3-12岁儿童兴趣培训渗透率持续提升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目标市场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4114800" cy="1645920"/>
        </p:xfrm>
        <a:graphic>
          <a:graphicData uri="http://schemas.openxmlformats.org/drawingml/2006/table">
            <a:tbl>
              <a:tblPr/>
              <a:tblGrid>
                <a:gridCol w="1188720"/>
                <a:gridCol w="2926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目标用户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25-45岁家长，3-12岁儿童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目标机构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艺术、体育、科技、语言类培训机构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首期覆盖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一二线城市，逐步下沉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7548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竞争优势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846320" y="3383280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6" name="Text 13"/>
          <p:cNvSpPr/>
          <p:nvPr/>
        </p:nvSpPr>
        <p:spPr>
          <a:xfrm>
            <a:off x="512064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差异化定位：专注素质教育垂直领域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3840480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8" name="Text 15"/>
          <p:cNvSpPr/>
          <p:nvPr/>
        </p:nvSpPr>
        <p:spPr>
          <a:xfrm>
            <a:off x="5120640" y="3749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全流程覆盖：从获客到上课到评价完整闭环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4297680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0" name="Text 17"/>
          <p:cNvSpPr/>
          <p:nvPr/>
        </p:nvSpPr>
        <p:spPr>
          <a:xfrm>
            <a:off x="5120640" y="4206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极致便捷：一个小程序搞定所有教务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46320" y="4754880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2" name="Text 19"/>
          <p:cNvSpPr/>
          <p:nvPr/>
        </p:nvSpPr>
        <p:spPr>
          <a:xfrm>
            <a:off x="5120640" y="4663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社交裂变：邀友返现降低获客成本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合作联系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我们寻找的合作伙伴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83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培训机构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希望提升运营效率、降低获客成本的素质教育机构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783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8BC3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1783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渠道代理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2286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有教育机构资源的城市合伙人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783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2286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关注素质教育赛道、认可平台价值的投资者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1F8E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9319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31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商务合作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3931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business@zhixiaomiao.com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客服热线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43891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400-XXX-XXXX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8463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846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官方网站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4846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www.zhixiaomiao.com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53035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4CAF50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303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公司地址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5303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[待填写]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212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关注我们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微信公众号：稚小苗平台    抖音号：@稚小苗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1F8E9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3657600" cy="3657600"/>
          </a:xfrm>
          <a:prstGeom prst="ellipse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让兴趣教育更简单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稚小苗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一个小程序，管理全流程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0" y="4480560"/>
            <a:ext cx="3657600" cy="0"/>
          </a:xfrm>
          <a:prstGeom prst="line">
            <a:avLst/>
          </a:prstGeom>
          <a:noFill/>
          <a:ln w="38100">
            <a:solidFill>
              <a:srgbClr val="8BC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期待与您携手，共创素质教育美好未来！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2026-03-21T13:56:07Z</dcterms:created>
  <dcterms:modified xsi:type="dcterms:W3CDTF">2026-03-21T13:56:07Z</dcterms:modified>
</cp:coreProperties>
</file>